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12192000"/>
  <p:embeddedFontLst>
    <p:embeddedFont>
      <p:font typeface="Heebo Light" panose="020F0502020204030204" pitchFamily="2" charset="-79"/>
      <p:regular r:id="rId14"/>
    </p:embeddedFont>
    <p:embeddedFont>
      <p:font typeface="Montserrat" panose="020F0502020204030204" pitchFamily="2" charset="0"/>
      <p:regular r:id="rId15"/>
    </p:embeddedFont>
    <p:embeddedFont>
      <p:font typeface="Montserrat Light" panose="020F0502020204030204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340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42281"/>
            <a:ext cx="6296860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HDFC BANK — 5‑Year Financial &amp; Banking Performance (FY2020‑21 to FY2024‑25)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4057253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Management analytics report prepared by Gokul G . Analysis built from Excel, SQL/MySQL, Python and Power BI to translate five years of financial and banking data into concise management insight across: Financial Performance, Banking Growth, Asset Quality, Efficiency, Capital and Cash Flow.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45517"/>
            <a:ext cx="6296860" cy="985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Management Summary — Key Headlines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856085"/>
            <a:ext cx="6296860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FY2024‑25 net profit: ₹70,792.25 Cr. Five‑year net profit CAGR: 22.12%. Advances: ₹26.20 Lakh Cr; Deposits: ₹27.15 Lakh Cr. Net profit rose from ₹31,833.21 Cr to ₹70,792.25 Cr; FY2023‑24 delivered the strongest annual growth at 39.27%.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2763838"/>
            <a:ext cx="1998811" cy="2387997"/>
          </a:xfrm>
          <a:prstGeom prst="roundRect">
            <a:avLst>
              <a:gd name="adj" fmla="val 331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5380" y="2927747"/>
            <a:ext cx="167100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Profitability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5380" y="3264098"/>
            <a:ext cx="1671000" cy="147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Strong absolute profit growth, margin moderation (NIM 4.10% → 3.48%) and ROE moderation (peak 17.39% → 14.56%).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10499" y="2763838"/>
            <a:ext cx="1998811" cy="2387997"/>
          </a:xfrm>
          <a:prstGeom prst="roundRect">
            <a:avLst>
              <a:gd name="adj" fmla="val 331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74404" y="2927747"/>
            <a:ext cx="167100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Growth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974404" y="3264098"/>
            <a:ext cx="1671000" cy="1723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Advances grew 131.24% vs deposits 103.34% — a 27.90pp growth gap; credit‑deposit ratio peaked &gt;100% in FY2023‑24.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59524" y="2763838"/>
            <a:ext cx="1998811" cy="2387997"/>
          </a:xfrm>
          <a:prstGeom prst="roundRect">
            <a:avLst>
              <a:gd name="adj" fmla="val 331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3429" y="2927747"/>
            <a:ext cx="1671000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 &amp; Efficiency Signals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123429" y="3756620"/>
            <a:ext cx="1671000" cy="123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GNPA/Net NPA improved then rose to 1.33% / 0.43%; Cost‑to‑Income rose 36.30% → 40.50%.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1475" y="5302052"/>
            <a:ext cx="6296860" cy="910431"/>
          </a:xfrm>
          <a:prstGeom prst="roundRect">
            <a:avLst>
              <a:gd name="adj" fmla="val 727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380" y="5465961"/>
            <a:ext cx="596904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&amp; Cash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5380" y="5802313"/>
            <a:ext cx="596904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 stable ~18.8%–19.6%. Operating cash flow volatile but very strong in FY2024‑25.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82228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Scope, Sources &amp; Data Preparation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324372"/>
            <a:ext cx="629686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Scope: FY2020‑21 to FY2024‑25 covering financial performance, banking growth, asset quality, efficiency, returns, capital, cash flow and ad‑hoc analysis. Sources: HDFC Bank annual reports, Screener dataset; working dataset is consolidated while many banking KPIs are standalone.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18023"/>
            <a:ext cx="361743" cy="36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638028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1475" y="2939951"/>
            <a:ext cx="629686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Source data → Excel → MySQL/SQL → Python validation → final dataset → Power BI dashboards.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10248"/>
            <a:ext cx="361743" cy="36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930253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Rules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61475" y="4232176"/>
            <a:ext cx="629686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Standardize years/units/fields, clean non‑numeric markers, keep NULLs for unavailable values, validate reconciliation and chronology.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19563"/>
            <a:ext cx="361743" cy="361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543956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 Note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61475" y="5741491"/>
            <a:ext cx="629686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HDFC Ltd merger (effective 1 Jul 2023) affects scale and comparability — interpret FY2023‑24 impacts with caution; avoid assuming causality from observed correlations.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9670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Methodology &amp; Core Questions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971179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Tools: Excel (cleaning), SQL/MySQL (relational analysis), Python (validation, ad‑hoc analysis, visuals), Power BI (six‑page management dashboard). The methodology emphasizes validation, reproducibility and management‑oriented outputs.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33360" y="295106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3213001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333375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33360" y="3691434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Profitability evolution, strongest profit growth year; balance between advances and deposits; asset quality during expansion; margin, efficiency and return trends; CASA composition; capital adequacy; profit vs operating cash generation.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477460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5020072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5157291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 Lens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3360" y="551497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Assess growth alongside funding quality, asset quality, margin protection, efficiency, capital and cash generation rather than in isolation.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764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— Executive Overview (Dashboard Snapshot)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33277"/>
            <a:ext cx="7099519" cy="3881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46973"/>
            <a:ext cx="108687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page consolidates five‑year trends: net profit, advances, deposits, credit‑deposit ratio, CASA, GNPA/Net NPA and ROE. It answers: where the bank stands after five years across profitability, balance‑sheet growth, funding mix and asset‑quality indicators.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5691188"/>
            <a:ext cx="10868745" cy="705048"/>
          </a:xfrm>
          <a:prstGeom prst="roundRect">
            <a:avLst>
              <a:gd name="adj" fmla="val 8313"/>
            </a:avLst>
          </a:prstGeom>
          <a:solidFill>
            <a:srgbClr val="31136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73" y="5861248"/>
            <a:ext cx="174422" cy="1395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4893" y="5843687"/>
            <a:ext cx="10275829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numbers (illustrative dashboard): Net Profit trend FY2020‑25: ₹31.8K → ₹70.8K Cr; Credit‑Deposit Ratio peaked at 104.42% in FY2023‑24; CASA declined to ~34.6% in FY2024‑25.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5811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&amp; Profitability — Findings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45369"/>
            <a:ext cx="6450050" cy="3521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76279"/>
            <a:ext cx="10868745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Sales grew from ₹1,28,552.40 Cr to ₹3,36,367.43 Cr. Operating profit expanded strongly (₹76,095.87 Cr → ₹1,49,392.98 Cr). Net profit margin moderated from ~24.76% to ~21.05%. NIM fell from 4.10% to 3.48%; net profit grew despite margin compression — monitor margin quality separately from absolute earnings.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42905"/>
            <a:ext cx="5385856" cy="12591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774" y="5649317"/>
            <a:ext cx="5107257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Profit Growth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00774" y="5905202"/>
            <a:ext cx="5107257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FY2023‑24 was the high point for YoY profit growth (39.27%); FY2024‑25 growth 18.51%.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265" y="5142905"/>
            <a:ext cx="5385955" cy="12591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3565" y="5649317"/>
            <a:ext cx="51073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Income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83565" y="5905202"/>
            <a:ext cx="51073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FY2023‑24 other income rose sharply; interpret in light of the HDFC Ltd merger — not proof of causation.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4428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Banking Business Growth &amp; KPIs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59173"/>
            <a:ext cx="6882434" cy="3809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96073"/>
            <a:ext cx="10868745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Advances increased from ₹11,32,837 Cr to ₹26,19,609 Cr; deposits from ₹13,35,060 Cr to ₹27,14,715 Cr. Overall advances growth 131.24% vs deposits 103.34% leading to a 27.90pp gap. Credit‑deposit ratio: 84.85% → 96.50% with a peak at 104.42% in FY2023‑24. CASA ratio declined ~13.4pp from FY2021‑22 to FY2024‑25.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5624116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83045" y="5671145"/>
            <a:ext cx="494196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Provisioning &amp; Capital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83045" y="5953125"/>
            <a:ext cx="4941962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PCR: peaked ~75.80% in FY2022‑23, fell to 67.86% in FY2024‑25. CAR remained strong ≈18.8%–19.6%.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66688" y="5624116"/>
            <a:ext cx="308166" cy="308173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8258" y="5671145"/>
            <a:ext cx="494196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 Priority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8258" y="5953125"/>
            <a:ext cx="4941962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Strengthen deposit mobilization and CASA while aligning capital planning to credit expansion.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 Quality, Efficiency &amp; Returns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795933"/>
            <a:ext cx="8575831" cy="40653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98546"/>
            <a:ext cx="1086874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GNPA improved to FY2022‑23 then rose to 1.33% in FY2024‑25; Net NPA followed similarly to 0.43%. NPA spread remained ~0.9pp. ROA peaked at 2.07% (FY2022‑23) then fell to 1.91%; ROE peaked 17.39% then moderated to 14.56%. Cost‑to‑Income increased from 36.30% to 40.50% — efficiency and productivity require management focus.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AEFA0EB-F8B8-DB1E-D2C6-13F60D34A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44" y="542012"/>
            <a:ext cx="975335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13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9446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 Flow Analysis &amp; Cross‑Metric Signals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7621"/>
            <a:ext cx="6802962" cy="3745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996359"/>
            <a:ext cx="10868745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Operating cash flow varied widely: FY2021‑22 negative ₹11,959.57 Cr → FY2024‑25 positive ₹1,27,241.84 Cr. Financing outflow in FY2024‑25 (₹1,02,477.54 Cr) materially reduced net cash. Net cash flow stayed positive every year, peaking ₹41,762.08 Cr (FY2022‑23) and falling to ₹21,113.39 Cr (FY2024‑25). Profit and OCF do not always move together — governance should monitor both.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684441"/>
            <a:ext cx="5385161" cy="703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3913" y="5703491"/>
            <a:ext cx="5193674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Signal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33913" y="5978922"/>
            <a:ext cx="5193674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FY2024‑25 combined strong net profit and exceptionally high OCF — validate sustainability and drivers (working capital, consolidation effects).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960" y="5684441"/>
            <a:ext cx="5385261" cy="703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36447" y="5703491"/>
            <a:ext cx="519377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336447" y="5978922"/>
            <a:ext cx="5193773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 operating, investing and financing flows alongside profitability to understand net cash outcomes and balance‑sheet impacts.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44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Ad‑Hoc Answers, Recommendations &amp; Conclusion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31838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Direct answers: Advances grew faster than deposits (131.24% vs 103.34%). Highest net‑profit growth: FY2023‑24 (39.27%) — consider merger impact. Asset quality improved to FY2022‑23 then weakened. NIM declined (4.10% → 3.48%) while net profit rose. CASA ratio fell ~13.4pp. CAR remained adequate. Profit did not always translate to OCF.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11723"/>
            <a:ext cx="5351725" cy="3661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696071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Actions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053755"/>
            <a:ext cx="4906840" cy="293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Strengthen deposit mobilization and CASA composition.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Protect NIM and monitor margin quality vs absolute earnings.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Maintain disciplined underwriting, early warning and recovery processes.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cost, productivity and process improvements to control Cost‑to‑Income.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Preserve capital buffers and align capital planning with credit growth.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Monitor operating, investing and financing cash flows with profitability metrics.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511723"/>
            <a:ext cx="5351725" cy="3661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2696071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Management Takeaway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39037" y="3053755"/>
            <a:ext cx="490684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HDFC Bank shows strong expansion and profitability growth; the next phase must emphasize the quality, efficiency and resilience of that growth — focusing on deposit quality, asset quality, margin protection, efficiency, capital preservation and cash‑flow governance.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1189</Words>
  <Application>Microsoft Office PowerPoint</Application>
  <PresentationFormat>Widescreen</PresentationFormat>
  <Paragraphs>72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Heebo Light</vt:lpstr>
      <vt:lpstr>Arial</vt:lpstr>
      <vt:lpstr>Montserrat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gokul g</cp:lastModifiedBy>
  <cp:revision>2</cp:revision>
  <dcterms:created xsi:type="dcterms:W3CDTF">2026-09-12T06:36:35Z</dcterms:created>
  <dcterms:modified xsi:type="dcterms:W3CDTF">2026-09-12T06:39:18Z</dcterms:modified>
</cp:coreProperties>
</file>